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22F2C"/>
                </a:solidFill>
                <a:latin typeface="Aptos"/>
              </a:rPr>
              <a:t>Migration Jenkins → GitLab 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2860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65736F"/>
                </a:solidFill>
                <a:latin typeface="Aptos"/>
              </a:rPr>
              <a:t>Focus CD / ArgoCD — impacts, responsabilités et accompagnement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3337560"/>
            <a:ext cx="10789920" cy="1325880"/>
          </a:xfrm>
          <a:prstGeom prst="roundRect">
            <a:avLst/>
          </a:prstGeom>
          <a:solidFill>
            <a:srgbClr val="E2F1EB"/>
          </a:solidFill>
          <a:ln w="10160">
            <a:solidFill>
              <a:srgbClr val="E2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3593592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7E64"/>
                </a:solidFill>
                <a:latin typeface="Aptos"/>
              </a:rPr>
              <a:t>Objectif de l’étude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91363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22F2C"/>
                </a:solidFill>
                <a:latin typeface="Aptos"/>
              </a:rPr>
              <a:t>Garantir que la migration du moteur CI ne dégrade ni la promotion des images, ni les opérations ArgoCD : create, sync, status, rollback, etc.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5852160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5736F"/>
                </a:solidFill>
                <a:latin typeface="Aptos"/>
              </a:rPr>
              <a:t>Périmètre : équipe CD / ArgoCD, DevOps Portal, équipes BU / TO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2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6528816"/>
            <a:ext cx="9601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736F"/>
                </a:solidFill>
                <a:latin typeface="Aptos"/>
              </a:rPr>
              <a:t>CD / ArgoCD — Migration Jenkins → GitLab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736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F2C"/>
                </a:solidFill>
                <a:latin typeface="Aptos"/>
              </a:rPr>
              <a:t>1. Point de départ : ce qui est réellement impacté côté 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5736F"/>
                </a:solidFill>
                <a:latin typeface="Aptos"/>
              </a:rPr>
              <a:t>La migration change l’exécution CI, pas la responsabilité d’ArgoCD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52044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" cy="4526280"/>
          </a:xfrm>
          <a:prstGeom prst="rect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F2C"/>
                </a:solidFill>
                <a:latin typeface="Aptos"/>
              </a:rPr>
              <a:t>Ce qui ne change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65736F"/>
                </a:solidFill>
                <a:latin typeface="Aptos"/>
              </a:rPr>
              <a:t>Responsabilité CD / ArgoCD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58568"/>
            <a:ext cx="317296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ArgoCD reste le moteur de déploiement GitOps.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Les opérations create / sync / wait-for-status / rollback restent nécessaires.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La logique de déploiement et le fonctionnement des applications restent inchangés.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325880"/>
            <a:ext cx="352044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1325880"/>
            <a:ext cx="64008" cy="4526280"/>
          </a:xfrm>
          <a:prstGeom prst="rect">
            <a:avLst/>
          </a:prstGeom>
          <a:solidFill>
            <a:srgbClr val="DA9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481328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F2C"/>
                </a:solidFill>
                <a:latin typeface="Aptos"/>
              </a:rPr>
              <a:t>Ce qui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84708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65736F"/>
                </a:solidFill>
                <a:latin typeface="Aptos"/>
              </a:rPr>
              <a:t>Point de raccordement CI → 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258568"/>
            <a:ext cx="317296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Le pipeline Jenkins est remplacé progressivement par GitLab CI.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Les fonctions de promotion sont consommées depuis GitLab CI.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L’identité GitLab / project_id devient le nouveau point d’authentification.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25880"/>
            <a:ext cx="352044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325880"/>
            <a:ext cx="64008" cy="4526280"/>
          </a:xfrm>
          <a:prstGeom prst="rect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81328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F2C"/>
                </a:solidFill>
                <a:latin typeface="Aptos"/>
              </a:rPr>
              <a:t>Notre enjeu 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4708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65736F"/>
                </a:solidFill>
                <a:latin typeface="Aptos"/>
              </a:rPr>
              <a:t>Sécuriser la continuité de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258568"/>
            <a:ext cx="317296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Garantir l’équivalence fonctionnelle des fonctions utilisées par les BU.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Accompagner les tests de promotion et de déploiement.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Qualifier les incidents réellement liés à la migration.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2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528816"/>
            <a:ext cx="9601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736F"/>
                </a:solidFill>
                <a:latin typeface="Aptos"/>
              </a:rPr>
              <a:t>CD / ArgoCD — Migration Jenkins → GitLab 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736F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F2C"/>
                </a:solidFill>
                <a:latin typeface="Aptos"/>
              </a:rPr>
              <a:t>2. Chaîne cible : GitLab CI → Promotion → ArgoCD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5736F"/>
                </a:solidFill>
                <a:latin typeface="Aptos"/>
              </a:rPr>
              <a:t>Le périmètre CD commence à la promotion et se termine au déploiement validé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2103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1810512"/>
            <a:ext cx="18836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22F2C"/>
                </a:solidFill>
                <a:latin typeface="Aptos"/>
              </a:rPr>
              <a:t>GitLab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194560"/>
            <a:ext cx="18836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6F"/>
                </a:solidFill>
                <a:latin typeface="Aptos"/>
              </a:rPr>
              <a:t>Exécute le pipeline
et déclenche les actions</a:t>
            </a:r>
          </a:p>
        </p:txBody>
      </p:sp>
      <p:sp>
        <p:nvSpPr>
          <p:cNvPr id="7" name="Chevron 6"/>
          <p:cNvSpPr/>
          <p:nvPr/>
        </p:nvSpPr>
        <p:spPr>
          <a:xfrm>
            <a:off x="2779776" y="2057400"/>
            <a:ext cx="384048" cy="384048"/>
          </a:xfrm>
          <a:prstGeom prst="chevron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01568" y="1554480"/>
            <a:ext cx="2103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1296" y="1810512"/>
            <a:ext cx="18836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22F2C"/>
                </a:solidFill>
                <a:latin typeface="Aptos"/>
              </a:rPr>
              <a:t>Promote / cd-pipelines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1296" y="2194560"/>
            <a:ext cx="18836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6F"/>
                </a:solidFill>
                <a:latin typeface="Aptos"/>
              </a:rPr>
              <a:t>Promotion image +
fonctions CD</a:t>
            </a:r>
          </a:p>
        </p:txBody>
      </p:sp>
      <p:sp>
        <p:nvSpPr>
          <p:cNvPr id="11" name="Chevron 10"/>
          <p:cNvSpPr/>
          <p:nvPr/>
        </p:nvSpPr>
        <p:spPr>
          <a:xfrm>
            <a:off x="5614416" y="2057400"/>
            <a:ext cx="384048" cy="384048"/>
          </a:xfrm>
          <a:prstGeom prst="chevron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6208" y="1554480"/>
            <a:ext cx="21031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1810512"/>
            <a:ext cx="18836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22F2C"/>
                </a:solidFill>
                <a:latin typeface="Aptos"/>
              </a:rPr>
              <a:t>Registry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2194560"/>
            <a:ext cx="18836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6F"/>
                </a:solidFill>
                <a:latin typeface="Aptos"/>
              </a:rPr>
              <a:t>Image Docker
versionnée</a:t>
            </a:r>
          </a:p>
        </p:txBody>
      </p:sp>
      <p:sp>
        <p:nvSpPr>
          <p:cNvPr id="15" name="Chevron 14"/>
          <p:cNvSpPr/>
          <p:nvPr/>
        </p:nvSpPr>
        <p:spPr>
          <a:xfrm>
            <a:off x="8449056" y="2057400"/>
            <a:ext cx="384048" cy="384048"/>
          </a:xfrm>
          <a:prstGeom prst="chevron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70848" y="1554480"/>
            <a:ext cx="2103120" cy="1417320"/>
          </a:xfrm>
          <a:prstGeom prst="roundRect">
            <a:avLst/>
          </a:prstGeom>
          <a:solidFill>
            <a:srgbClr val="E2F1EB"/>
          </a:solidFill>
          <a:ln w="10160">
            <a:solidFill>
              <a:srgbClr val="267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1810512"/>
            <a:ext cx="188366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67E64"/>
                </a:solidFill>
                <a:latin typeface="Aptos"/>
              </a:rPr>
              <a:t>ArgoCD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2194560"/>
            <a:ext cx="188366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5736F"/>
                </a:solidFill>
                <a:latin typeface="Aptos"/>
              </a:rPr>
              <a:t>Application → Sync /
Status / Rollback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29000"/>
            <a:ext cx="1097280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675887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7E64"/>
                </a:solidFill>
                <a:latin typeface="Aptos"/>
              </a:rPr>
              <a:t>Fonctions CD à préserver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96512"/>
            <a:ext cx="48463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80">
                <a:solidFill>
                  <a:srgbClr val="222F2C"/>
                </a:solidFill>
                <a:latin typeface="Aptos"/>
              </a:defRPr>
            </a:pPr>
            <a:r>
              <a:t>Promotion de l’image vers l’environnement cible.</a:t>
            </a:r>
          </a:p>
          <a:p>
            <a:pPr>
              <a:spcAft>
                <a:spcPts val="500"/>
              </a:spcAft>
              <a:defRPr sz="1180">
                <a:solidFill>
                  <a:srgbClr val="222F2C"/>
                </a:solidFill>
                <a:latin typeface="Aptos"/>
              </a:defRPr>
            </a:pPr>
            <a:r>
              <a:t>Création / mise à jour de l’application ArgoCD.</a:t>
            </a:r>
          </a:p>
          <a:p>
            <a:pPr>
              <a:spcAft>
                <a:spcPts val="500"/>
              </a:spcAft>
              <a:defRPr sz="1180">
                <a:solidFill>
                  <a:srgbClr val="222F2C"/>
                </a:solidFill>
                <a:latin typeface="Aptos"/>
              </a:defRPr>
            </a:pPr>
            <a:r>
              <a:t>Synchronisation et attente du statut attendu.</a:t>
            </a:r>
          </a:p>
          <a:p>
            <a:pPr>
              <a:spcAft>
                <a:spcPts val="500"/>
              </a:spcAft>
              <a:defRPr sz="1180">
                <a:solidFill>
                  <a:srgbClr val="222F2C"/>
                </a:solidFill>
                <a:latin typeface="Aptos"/>
              </a:defRPr>
            </a:pPr>
            <a:r>
              <a:t>Rollback lorsque le scénario de migration / exploitation le nécessite.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3675887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7E64"/>
                </a:solidFill>
                <a:latin typeface="Aptos"/>
              </a:rPr>
              <a:t>Critère de réussite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096512"/>
            <a:ext cx="48920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F2C"/>
                </a:solidFill>
                <a:latin typeface="Aptos"/>
              </a:rPr>
              <a:t>Un projet migré doit obtenir le même résultat fonctionnel côté CD, indépendamment du moteur CI utilisé.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2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28816"/>
            <a:ext cx="9601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736F"/>
                </a:solidFill>
                <a:latin typeface="Aptos"/>
              </a:rPr>
              <a:t>CD / ArgoCD — Migration Jenkins → GitLab CI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052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736F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F2C"/>
                </a:solidFill>
                <a:latin typeface="Aptos"/>
              </a:rPr>
              <a:t>3. Répartition des responsabilités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5736F"/>
                </a:solidFill>
                <a:latin typeface="Aptos"/>
              </a:rPr>
              <a:t>Trois acteurs, trois périmètres d’action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5204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" cy="4617720"/>
          </a:xfrm>
          <a:prstGeom prst="rect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F2C"/>
                </a:solidFill>
                <a:latin typeface="Aptos"/>
              </a:rPr>
              <a:t>Équipe CD / ArgoCD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65736F"/>
                </a:solidFill>
                <a:latin typeface="Aptos"/>
              </a:rPr>
              <a:t>Nous — expertise 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58568"/>
            <a:ext cx="3172968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Maintenir / faire évoluer les templates et fonctions CD communes.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Documenter le mode d’utilisation depuis GitLab CI.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Accompagner les tests de promotion / déploiement.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Analyser les erreurs côté ArgoCD et qualifier leur origine.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Assurer le support sur les mécanismes CD.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325880"/>
            <a:ext cx="35204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1325880"/>
            <a:ext cx="64008" cy="4617720"/>
          </a:xfrm>
          <a:prstGeom prst="rect">
            <a:avLst/>
          </a:prstGeom>
          <a:solidFill>
            <a:srgbClr val="DA9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481328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F2C"/>
                </a:solidFill>
                <a:latin typeface="Aptos"/>
              </a:rPr>
              <a:t>DevOps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84708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65736F"/>
                </a:solidFill>
                <a:latin typeface="Aptos"/>
              </a:rPr>
              <a:t>Plateforme / habilitations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258568"/>
            <a:ext cx="3172968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Activer le module GitLab CI/CD sur les projets.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S’assurer que le projet dispose des capacités CI nécessaires.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Gérer les paramètres / droits relevant du portail.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Accompagner la transition et la coexistence Jenkins / GitLab.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Intervenir sur les sujets d’infrastructure portail.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25880"/>
            <a:ext cx="35204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325880"/>
            <a:ext cx="64008" cy="4617720"/>
          </a:xfrm>
          <a:prstGeom prst="rect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81328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F2C"/>
                </a:solidFill>
                <a:latin typeface="Aptos"/>
              </a:rPr>
              <a:t>BU / 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4708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65736F"/>
                </a:solidFill>
                <a:latin typeface="Aptos"/>
              </a:rPr>
              <a:t>Projet / pipeline consommateur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258568"/>
            <a:ext cx="3172968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Adapter .gitlab-ci.yml et les templates locaux.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Adapter les shared libraries locales si nécessaire.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Récupérer le nouveau project_id.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Reconfigurer JWT / Vault via promote-cli.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Exécuter les tests de bout en bout.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2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528816"/>
            <a:ext cx="9601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736F"/>
                </a:solidFill>
                <a:latin typeface="Aptos"/>
              </a:rPr>
              <a:t>CD / ArgoCD — Migration Jenkins → GitLab 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736F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F2C"/>
                </a:solidFill>
                <a:latin typeface="Aptos"/>
              </a:rPr>
              <a:t>4. Actions attendues du DevOps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5736F"/>
                </a:solidFill>
                <a:latin typeface="Aptos"/>
              </a:rPr>
              <a:t>Préparer la plateforme avant la bascule des projets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25880"/>
            <a:ext cx="10789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" y="1444752"/>
            <a:ext cx="457200" cy="457200"/>
          </a:xfrm>
          <a:prstGeom prst="ellipse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4533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444752"/>
            <a:ext cx="1828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F2C"/>
                </a:solidFill>
                <a:latin typeface="Aptos"/>
              </a:rPr>
              <a:t>Activation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444752"/>
            <a:ext cx="78181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F2C"/>
                </a:solidFill>
                <a:latin typeface="Aptos"/>
              </a:rPr>
              <a:t>Activer GitLab CI/CD sur les projets concernés.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58568"/>
            <a:ext cx="10789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1248" y="2377439"/>
            <a:ext cx="457200" cy="457200"/>
          </a:xfrm>
          <a:prstGeom prst="ellipse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47802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377439"/>
            <a:ext cx="1828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F2C"/>
                </a:solidFill>
                <a:latin typeface="Aptos"/>
              </a:rPr>
              <a:t>Accès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377439"/>
            <a:ext cx="78181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F2C"/>
                </a:solidFill>
                <a:latin typeface="Aptos"/>
              </a:rPr>
              <a:t>Vérifier les droits et prérequis nécessaires à l’exécution CI.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191256"/>
            <a:ext cx="10789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3310128"/>
            <a:ext cx="457200" cy="457200"/>
          </a:xfrm>
          <a:prstGeom prst="ellipse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41071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310128"/>
            <a:ext cx="1828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F2C"/>
                </a:solidFill>
                <a:latin typeface="Aptos"/>
              </a:rPr>
              <a:t>Coexistence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310128"/>
            <a:ext cx="78181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F2C"/>
                </a:solidFill>
                <a:latin typeface="Aptos"/>
              </a:rPr>
              <a:t>Permettre une phase Jenkins / GitLab CI sans perturber l’existant.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123944"/>
            <a:ext cx="10789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" y="4242816"/>
            <a:ext cx="457200" cy="457200"/>
          </a:xfrm>
          <a:prstGeom prst="ellipse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34340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242816"/>
            <a:ext cx="1828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F2C"/>
                </a:solidFill>
                <a:latin typeface="Aptos"/>
              </a:rPr>
              <a:t>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242816"/>
            <a:ext cx="78181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F2C"/>
                </a:solidFill>
                <a:latin typeface="Aptos"/>
              </a:rPr>
              <a:t>Accompagner les opérations portail nécessaires à la bascule.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056632"/>
            <a:ext cx="10789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8" y="5175504"/>
            <a:ext cx="457200" cy="457200"/>
          </a:xfrm>
          <a:prstGeom prst="ellipse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276088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75504"/>
            <a:ext cx="1828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F2C"/>
                </a:solidFill>
                <a:latin typeface="Aptos"/>
              </a:rPr>
              <a:t>Nettoyage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5175504"/>
            <a:ext cx="781812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F2C"/>
                </a:solidFill>
                <a:latin typeface="Aptos"/>
              </a:rPr>
              <a:t>Supprimer l’ancien project_id lorsque la migration est validée.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6053328"/>
            <a:ext cx="10789920" cy="329184"/>
          </a:xfrm>
          <a:prstGeom prst="roundRect">
            <a:avLst/>
          </a:prstGeom>
          <a:solidFill>
            <a:srgbClr val="E2F1EB"/>
          </a:solidFill>
          <a:ln w="10160">
            <a:solidFill>
              <a:srgbClr val="E2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6117336"/>
            <a:ext cx="103327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>
                <a:solidFill>
                  <a:srgbClr val="222F2C"/>
                </a:solidFill>
                <a:latin typeface="Aptos"/>
              </a:rPr>
              <a:t>Dépendance CD : aucun changement de logique ArgoCD ne doit être introduit uniquement pour changer de moteur CI.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2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6528816"/>
            <a:ext cx="9601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736F"/>
                </a:solidFill>
                <a:latin typeface="Aptos"/>
              </a:rPr>
              <a:t>CD / ArgoCD — Migration Jenkins → GitLab CI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51052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736F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F2C"/>
                </a:solidFill>
                <a:latin typeface="Aptos"/>
              </a:rPr>
              <a:t>5. Actions attendues des BU / 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5736F"/>
                </a:solidFill>
                <a:latin typeface="Aptos"/>
              </a:rPr>
              <a:t>Adapter le projet et prouver l’équivalence fonctionnelle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5204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" cy="4617720"/>
          </a:xfrm>
          <a:prstGeom prst="rect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F2C"/>
                </a:solidFill>
                <a:latin typeface="Aptos"/>
              </a:rP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65736F"/>
                </a:solidFill>
                <a:latin typeface="Aptos"/>
              </a:rPr>
              <a:t>Adapter l’exécution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58568"/>
            <a:ext cx="3172968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Migrer le pipeline Jenkins vers .gitlab-ci.yml.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Utiliser les templates GitLab / CD standardisés.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Conserver les paramètres métier et contrôles existants.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325880"/>
            <a:ext cx="35204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1325880"/>
            <a:ext cx="64008" cy="4617720"/>
          </a:xfrm>
          <a:prstGeom prst="rect">
            <a:avLst/>
          </a:prstGeom>
          <a:solidFill>
            <a:srgbClr val="DA9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481328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F2C"/>
                </a:solidFill>
                <a:latin typeface="Aptos"/>
              </a:rPr>
              <a:t>Identité &amp; secrets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184708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65736F"/>
                </a:solidFill>
                <a:latin typeface="Aptos"/>
              </a:rPr>
              <a:t>Reconfigurer l’accès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258568"/>
            <a:ext cx="3172968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Récupérer le nouveau project_id GitLab.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Exécuter promote-cli avec le nouveau project_id.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Mettre à jour JWT / Vault et les rôles associés.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Vérifier les droits effectifs.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325880"/>
            <a:ext cx="35204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325880"/>
            <a:ext cx="64008" cy="4617720"/>
          </a:xfrm>
          <a:prstGeom prst="rect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81328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F2C"/>
                </a:solidFill>
                <a:latin typeface="Aptos"/>
              </a:rPr>
              <a:t>Validation 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84708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65736F"/>
                </a:solidFill>
                <a:latin typeface="Aptos"/>
              </a:rPr>
              <a:t>Tester de bout en bout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258568"/>
            <a:ext cx="3172968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Promotion de l’image.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Création / mise à jour de l’application ArgoCD.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Sync et contrôle du statut.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Vérification du résultat du déploiement.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Tester le rollback si inclus dans le scénario.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2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6528816"/>
            <a:ext cx="9601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736F"/>
                </a:solidFill>
                <a:latin typeface="Aptos"/>
              </a:rPr>
              <a:t>CD / ArgoCD — Migration Jenkins → GitLab 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052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736F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F2C"/>
                </a:solidFill>
                <a:latin typeface="Aptos"/>
              </a:rPr>
              <a:t>6. Support attendu de l’équipe CD / ArgoCD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5736F"/>
                </a:solidFill>
                <a:latin typeface="Aptos"/>
              </a:rPr>
              <a:t>Notre rôle : fournir le cadre, accompagner la migration et qualifier les incidents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520440" cy="4754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4008" cy="4754880"/>
          </a:xfrm>
          <a:prstGeom prst="rect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F2C"/>
                </a:solidFill>
                <a:latin typeface="Aptos"/>
              </a:rPr>
              <a:t>Avant migration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4708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65736F"/>
                </a:solidFill>
                <a:latin typeface="Aptos"/>
              </a:rPr>
              <a:t>Documentation &amp; préparation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58568"/>
            <a:ext cx="317296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Fournir les templates / exemples GitLab CI de référence.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Documenter les fonctions CD consommées par les pipelines.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Préciser les prérequis project_id / JWT / Vault.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Identifier un scénario de validation standard.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4754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64008" cy="4754880"/>
          </a:xfrm>
          <a:prstGeom prst="rect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81328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F2C"/>
                </a:solidFill>
                <a:latin typeface="Aptos"/>
              </a:rPr>
              <a:t>Pendant migration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4708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65736F"/>
                </a:solidFill>
                <a:latin typeface="Aptos"/>
              </a:rPr>
              <a:t>Accompagnement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58568"/>
            <a:ext cx="317296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Répondre aux questions sur promote / ArgoCD.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Aider au diagnostic des erreurs CD.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Accompagner les premiers tests BU / TO.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Valider l’équivalence fonctionnelle avec Jenkins.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520440" cy="4754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325880"/>
            <a:ext cx="64008" cy="4754880"/>
          </a:xfrm>
          <a:prstGeom prst="rect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481328"/>
            <a:ext cx="32004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F2C"/>
                </a:solidFill>
                <a:latin typeface="Aptos"/>
              </a:rPr>
              <a:t>Après migration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4708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>
                <a:solidFill>
                  <a:srgbClr val="65736F"/>
                </a:solidFill>
                <a:latin typeface="Aptos"/>
              </a:rPr>
              <a:t>Stabilisation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58568"/>
            <a:ext cx="317296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Qualifier les incidents remontés par les projets.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Distinguer problème GitLab CI / Portal / CD.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Corriger ou faire évoluer les composants CD communs si nécessaire.</a:t>
            </a:r>
          </a:p>
          <a:p>
            <a:pPr>
              <a:spcAft>
                <a:spcPts val="500"/>
              </a:spcAft>
              <a:defRPr sz="1130">
                <a:solidFill>
                  <a:srgbClr val="222F2C"/>
                </a:solidFill>
                <a:latin typeface="Aptos"/>
              </a:defRPr>
            </a:pPr>
            <a:r>
              <a:t>Capitaliser les problèmes et mettre à jour la documentation.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6181344"/>
            <a:ext cx="11064240" cy="256032"/>
          </a:xfrm>
          <a:prstGeom prst="roundRect">
            <a:avLst/>
          </a:prstGeom>
          <a:solidFill>
            <a:srgbClr val="E2F1EB"/>
          </a:solidFill>
          <a:ln w="10160">
            <a:solidFill>
              <a:srgbClr val="E2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217920"/>
            <a:ext cx="10698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80" b="1">
                <a:solidFill>
                  <a:srgbClr val="222F2C"/>
                </a:solidFill>
                <a:latin typeface="Aptos"/>
              </a:rPr>
              <a:t>Support CD = expertise fonctionnelle et technique sur Promote / ArgoCD ; les sujets Portal restent traités par l’équipe Portal.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2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528816"/>
            <a:ext cx="9601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736F"/>
                </a:solidFill>
                <a:latin typeface="Aptos"/>
              </a:rPr>
              <a:t>CD / ArgoCD — Migration Jenkins → GitLab 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1052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736F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F2C"/>
                </a:solidFill>
                <a:latin typeface="Aptos"/>
              </a:rPr>
              <a:t>7. Mode opératoire de migration d’un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5736F"/>
                </a:solidFill>
                <a:latin typeface="Aptos"/>
              </a:rPr>
              <a:t>Une séquence simple avec un point de contrôle 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290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1" y="1572768"/>
            <a:ext cx="530352" cy="530352"/>
          </a:xfrm>
          <a:prstGeom prst="ellipse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700784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1554480"/>
            <a:ext cx="2286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67E64"/>
                </a:solidFill>
                <a:latin typeface="Aptos"/>
              </a:rPr>
              <a:t>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1901952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22F2C"/>
                </a:solidFill>
                <a:latin typeface="Aptos"/>
              </a:rPr>
              <a:t>Activer GitLab CI/CD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4290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99432" y="1572768"/>
            <a:ext cx="530352" cy="530352"/>
          </a:xfrm>
          <a:prstGeom prst="ellipse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700784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85232" y="1554480"/>
            <a:ext cx="2286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67E64"/>
                </a:solidFill>
                <a:latin typeface="Aptos"/>
              </a:rPr>
              <a:t>BU / 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1901952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22F2C"/>
                </a:solidFill>
                <a:latin typeface="Aptos"/>
              </a:rPr>
              <a:t>Adapter pipeline + templates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4290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94192" y="1572768"/>
            <a:ext cx="530352" cy="530352"/>
          </a:xfrm>
          <a:prstGeom prst="ellipse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700784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554480"/>
            <a:ext cx="2286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67E64"/>
                </a:solidFill>
                <a:latin typeface="Aptos"/>
              </a:rPr>
              <a:t>BU / 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1901952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22F2C"/>
                </a:solidFill>
                <a:latin typeface="Aptos"/>
              </a:rPr>
              <a:t>Configurer project_id + JWT / Vault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71800"/>
            <a:ext cx="34290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4671" y="3172968"/>
            <a:ext cx="530352" cy="530352"/>
          </a:xfrm>
          <a:prstGeom prst="ellipse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3300984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3154680"/>
            <a:ext cx="2286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67E64"/>
                </a:solidFill>
                <a:latin typeface="Aptos"/>
              </a:rPr>
              <a:t>BU / 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472" y="3502152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22F2C"/>
                </a:solidFill>
                <a:latin typeface="Aptos"/>
              </a:rPr>
              <a:t>Tester promotion + ArgoCD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2971800"/>
            <a:ext cx="34290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99432" y="3172968"/>
            <a:ext cx="530352" cy="530352"/>
          </a:xfrm>
          <a:prstGeom prst="ellipse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3300984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85232" y="3154680"/>
            <a:ext cx="2286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67E64"/>
                </a:solidFill>
                <a:latin typeface="Aptos"/>
              </a:rPr>
              <a:t>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2" y="3502152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22F2C"/>
                </a:solidFill>
                <a:latin typeface="Aptos"/>
              </a:rPr>
              <a:t>Valider le comportement fonctionnel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2971800"/>
            <a:ext cx="34290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94192" y="3172968"/>
            <a:ext cx="530352" cy="530352"/>
          </a:xfrm>
          <a:prstGeom prst="ellipse">
            <a:avLst/>
          </a:prstGeom>
          <a:solidFill>
            <a:srgbClr val="267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3300984"/>
            <a:ext cx="53035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9992" y="3154680"/>
            <a:ext cx="22860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67E64"/>
                </a:solidFill>
                <a:latin typeface="Aptos"/>
              </a:rPr>
              <a:t>Portal / BU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9992" y="3502152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>
                <a:solidFill>
                  <a:srgbClr val="222F2C"/>
                </a:solidFill>
                <a:latin typeface="Aptos"/>
              </a:rPr>
              <a:t>Finaliser la bascule et nettoyage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892040"/>
            <a:ext cx="10927080" cy="960120"/>
          </a:xfrm>
          <a:prstGeom prst="roundRect">
            <a:avLst/>
          </a:prstGeom>
          <a:solidFill>
            <a:srgbClr val="E2F1EB"/>
          </a:solidFill>
          <a:ln w="10160">
            <a:solidFill>
              <a:srgbClr val="E2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10235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7E64"/>
                </a:solidFill>
                <a:latin typeface="Aptos"/>
              </a:rPr>
              <a:t>Go / No-Go CD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5102352"/>
            <a:ext cx="836676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22F2C"/>
                </a:solidFill>
                <a:latin typeface="Aptos"/>
              </a:rPr>
              <a:t>Le scénario de promotion + déploiement est validé et le résultat observé côté ArgoCD est conforme à l’attendu.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2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528816"/>
            <a:ext cx="9601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736F"/>
                </a:solidFill>
                <a:latin typeface="Aptos"/>
              </a:rPr>
              <a:t>CD / ArgoCD — Migration Jenkins → GitLab CI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1052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736F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F2C"/>
                </a:solidFill>
                <a:latin typeface="Aptos"/>
              </a:rPr>
              <a:t>8. Synthèse — responsabilités et points de vigilance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5736F"/>
                </a:solidFill>
                <a:latin typeface="Aptos"/>
              </a:rPr>
              <a:t>Le changement de CI doit rester transparent pour la chaîne CD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672084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572768"/>
            <a:ext cx="6126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7E64"/>
                </a:solidFill>
                <a:latin typeface="Aptos"/>
              </a:rPr>
              <a:t>Responsabilités clés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F2C"/>
                </a:solidFill>
                <a:latin typeface="Aptos"/>
              </a:rPr>
              <a:t>CD / ArgoCD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057400"/>
            <a:ext cx="4526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6F"/>
                </a:solidFill>
                <a:latin typeface="Aptos"/>
              </a:rPr>
              <a:t>Templates CD • support Promote/ArgoCD • qualification incidents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F2C"/>
                </a:solidFill>
                <a:latin typeface="Aptos"/>
              </a:rPr>
              <a:t>DevOps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3108960"/>
            <a:ext cx="4526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6F"/>
                </a:solidFill>
                <a:latin typeface="Aptos"/>
              </a:rPr>
              <a:t>Activation CI/CD • accès / plateforme • opérations portail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F2C"/>
                </a:solidFill>
                <a:latin typeface="Aptos"/>
              </a:rPr>
              <a:t>BU /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4160520"/>
            <a:ext cx="4526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736F"/>
                </a:solidFill>
                <a:latin typeface="Aptos"/>
              </a:rPr>
              <a:t>Pipeline • project_id • JWT/Vault • tests de bout en bout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325880"/>
            <a:ext cx="40690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4112" y="1572768"/>
            <a:ext cx="3520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7E64"/>
                </a:solidFill>
                <a:latin typeface="Aptos"/>
              </a:rPr>
              <a:t>Points de vigilance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2057400"/>
            <a:ext cx="3429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10">
                <a:solidFill>
                  <a:srgbClr val="222F2C"/>
                </a:solidFill>
                <a:latin typeface="Aptos"/>
              </a:defRPr>
            </a:pPr>
            <a:r>
              <a:t>Ne pas confondre incident CI et incident CD.</a:t>
            </a:r>
          </a:p>
          <a:p>
            <a:pPr>
              <a:spcAft>
                <a:spcPts val="500"/>
              </a:spcAft>
              <a:defRPr sz="1110">
                <a:solidFill>
                  <a:srgbClr val="222F2C"/>
                </a:solidFill>
                <a:latin typeface="Aptos"/>
              </a:defRPr>
            </a:pPr>
            <a:r>
              <a:t>Vérifier l’identité GitLab / project_id et les rôles Vault.</a:t>
            </a:r>
          </a:p>
          <a:p>
            <a:pPr>
              <a:spcAft>
                <a:spcPts val="500"/>
              </a:spcAft>
              <a:defRPr sz="1110">
                <a:solidFill>
                  <a:srgbClr val="222F2C"/>
                </a:solidFill>
                <a:latin typeface="Aptos"/>
              </a:defRPr>
            </a:pPr>
            <a:r>
              <a:t>Tester la chaîne complète, pas uniquement le pipeline.</a:t>
            </a:r>
          </a:p>
          <a:p>
            <a:pPr>
              <a:spcAft>
                <a:spcPts val="500"/>
              </a:spcAft>
              <a:defRPr sz="1110">
                <a:solidFill>
                  <a:srgbClr val="222F2C"/>
                </a:solidFill>
                <a:latin typeface="Aptos"/>
              </a:defRPr>
            </a:pPr>
            <a:r>
              <a:t>Conserver une stratégie de retour arrière pendant la transition.</a:t>
            </a:r>
          </a:p>
          <a:p>
            <a:pPr>
              <a:spcAft>
                <a:spcPts val="500"/>
              </a:spcAft>
              <a:defRPr sz="1110">
                <a:solidFill>
                  <a:srgbClr val="222F2C"/>
                </a:solidFill>
                <a:latin typeface="Aptos"/>
              </a:defRPr>
            </a:pPr>
            <a:r>
              <a:t>Capitaliser les cas de support pour les migrations suivantes.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053328"/>
            <a:ext cx="11018520" cy="329184"/>
          </a:xfrm>
          <a:prstGeom prst="roundRect">
            <a:avLst/>
          </a:prstGeom>
          <a:solidFill>
            <a:srgbClr val="E2F1EB"/>
          </a:solidFill>
          <a:ln w="10160">
            <a:solidFill>
              <a:srgbClr val="E2F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117336"/>
            <a:ext cx="10607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>
                <a:solidFill>
                  <a:srgbClr val="222F2C"/>
                </a:solidFill>
                <a:latin typeface="Aptos"/>
              </a:rPr>
              <a:t>Conclusion : faible évolution du modèle CD ; principal enjeu = sécuriser le nouveau point d’entrée GitLab CI vers les fonctions de promotion et ArgoCD.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55680" cy="13716"/>
          </a:xfrm>
          <a:prstGeom prst="rect">
            <a:avLst/>
          </a:prstGeom>
          <a:solidFill>
            <a:srgbClr val="D2D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6528816"/>
            <a:ext cx="9601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736F"/>
                </a:solidFill>
                <a:latin typeface="Aptos"/>
              </a:rPr>
              <a:t>CD / ArgoCD — Migration Jenkins → GitLab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052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65736F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